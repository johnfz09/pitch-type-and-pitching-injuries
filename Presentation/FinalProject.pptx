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3" r:id="rId1"/>
  </p:sldMasterIdLst>
  <p:notesMasterIdLst>
    <p:notesMasterId r:id="rId9"/>
  </p:notes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81"/>
  </p:normalViewPr>
  <p:slideViewPr>
    <p:cSldViewPr snapToGrid="0">
      <p:cViewPr>
        <p:scale>
          <a:sx n="85" d="100"/>
          <a:sy n="85" d="100"/>
        </p:scale>
        <p:origin x="1384"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9DD971-75EE-9347-AA94-D9436829A584}"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2C47D-1C8A-B643-BE6F-E13E4C788582}" type="slidenum">
              <a:rPr lang="en-US" smtClean="0"/>
              <a:t>‹#›</a:t>
            </a:fld>
            <a:endParaRPr lang="en-US"/>
          </a:p>
        </p:txBody>
      </p:sp>
    </p:spTree>
    <p:extLst>
      <p:ext uri="{BB962C8B-B14F-4D97-AF65-F5344CB8AC3E}">
        <p14:creationId xmlns:p14="http://schemas.microsoft.com/office/powerpoint/2010/main" val="3725546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2C47D-1C8A-B643-BE6F-E13E4C788582}" type="slidenum">
              <a:rPr lang="en-US" smtClean="0"/>
              <a:t>1</a:t>
            </a:fld>
            <a:endParaRPr lang="en-US"/>
          </a:p>
        </p:txBody>
      </p:sp>
    </p:spTree>
    <p:extLst>
      <p:ext uri="{BB962C8B-B14F-4D97-AF65-F5344CB8AC3E}">
        <p14:creationId xmlns:p14="http://schemas.microsoft.com/office/powerpoint/2010/main" val="417549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4/22/26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91307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4/22/26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70357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4/22/26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51923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4/22/26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579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4/22/26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18366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4/22/26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75825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4/22/26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56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4/22/26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1748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4/22/26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5117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4/22/26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06896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4/22/26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9888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A38F49-B3E2-4BF0-BEC7-C30D34ABBB8D}" type="datetime1">
              <a:rPr lang="en-US" smtClean="0"/>
              <a:t>4/22/26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1381177047"/>
      </p:ext>
    </p:extLst>
  </p:cSld>
  <p:clrMap bg1="dk1" tx1="lt1" bg2="dk2" tx2="lt2" accent1="accent1" accent2="accent2" accent3="accent3" accent4="accent4" accent5="accent5" accent6="accent6" hlink="hlink" folHlink="folHlink"/>
  <p:sldLayoutIdLst>
    <p:sldLayoutId id="2147484234" r:id="rId1"/>
    <p:sldLayoutId id="2147484235" r:id="rId2"/>
    <p:sldLayoutId id="2147484236" r:id="rId3"/>
    <p:sldLayoutId id="2147484237" r:id="rId4"/>
    <p:sldLayoutId id="2147484238" r:id="rId5"/>
    <p:sldLayoutId id="2147484239" r:id="rId6"/>
    <p:sldLayoutId id="2147484240" r:id="rId7"/>
    <p:sldLayoutId id="2147484241" r:id="rId8"/>
    <p:sldLayoutId id="2147484242" r:id="rId9"/>
    <p:sldLayoutId id="2147484243" r:id="rId10"/>
    <p:sldLayoutId id="214748424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ortal.azure.com/#@MiamiDadeCollegeProd.onmicrosoft.com/resource/subscriptions/0028e95a-b621-4844-9cbf-918f0a58d076/resourceGroups/AnalyticsProject26/providers/Microsoft.Sql/servers/cap2671cfinalproject/databases/PitchingTJ/overview" TargetMode="External"/><Relationship Id="rId2" Type="http://schemas.openxmlformats.org/officeDocument/2006/relationships/hyperlink" Target="https://www.kaggle.com/datasets/brendanstyle/tommy-john-surgery-data?resource=downloa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aseball and gloves">
            <a:extLst>
              <a:ext uri="{FF2B5EF4-FFF2-40B4-BE49-F238E27FC236}">
                <a16:creationId xmlns:a16="http://schemas.microsoft.com/office/drawing/2014/main" id="{705AE993-D9CC-7287-6B88-66858B1E023C}"/>
              </a:ext>
            </a:extLst>
          </p:cNvPr>
          <p:cNvPicPr>
            <a:picLocks noChangeAspect="1"/>
          </p:cNvPicPr>
          <p:nvPr/>
        </p:nvPicPr>
        <p:blipFill>
          <a:blip r:embed="rId3">
            <a:alphaModFix amt="50000"/>
          </a:blip>
          <a:srcRect t="2168" b="13563"/>
          <a:stretch>
            <a:fillRect/>
          </a:stretch>
        </p:blipFill>
        <p:spPr>
          <a:xfrm>
            <a:off x="20" y="308473"/>
            <a:ext cx="12191980" cy="6857999"/>
          </a:xfrm>
          <a:prstGeom prst="rect">
            <a:avLst/>
          </a:prstGeom>
        </p:spPr>
      </p:pic>
      <p:sp>
        <p:nvSpPr>
          <p:cNvPr id="2" name="Title 1">
            <a:extLst>
              <a:ext uri="{FF2B5EF4-FFF2-40B4-BE49-F238E27FC236}">
                <a16:creationId xmlns:a16="http://schemas.microsoft.com/office/drawing/2014/main" id="{2F651AAE-8CB5-5EEA-6E42-1F42483D86F7}"/>
              </a:ext>
            </a:extLst>
          </p:cNvPr>
          <p:cNvSpPr>
            <a:spLocks noGrp="1"/>
          </p:cNvSpPr>
          <p:nvPr>
            <p:ph type="ctrTitle"/>
          </p:nvPr>
        </p:nvSpPr>
        <p:spPr>
          <a:xfrm>
            <a:off x="3047980" y="308473"/>
            <a:ext cx="9144000" cy="2900518"/>
          </a:xfrm>
        </p:spPr>
        <p:txBody>
          <a:bodyPr>
            <a:normAutofit/>
          </a:bodyPr>
          <a:lstStyle/>
          <a:p>
            <a:r>
              <a:rPr lang="en-US" b="1" dirty="0">
                <a:solidFill>
                  <a:srgbClr val="FFFFFF"/>
                </a:solidFill>
              </a:rPr>
              <a:t>Velocity vs Longevity: </a:t>
            </a:r>
            <a:br>
              <a:rPr lang="en-US" b="1" dirty="0">
                <a:solidFill>
                  <a:srgbClr val="FFFFFF"/>
                </a:solidFill>
              </a:rPr>
            </a:br>
            <a:r>
              <a:rPr lang="en-US" sz="4400" dirty="0"/>
              <a:t>Analyzing the Relationship Between Pitching and Ulnar Collateral Ligament Injuries</a:t>
            </a:r>
            <a:endParaRPr lang="en-US" sz="4400" dirty="0">
              <a:solidFill>
                <a:srgbClr val="FFFFFF"/>
              </a:solidFill>
            </a:endParaRPr>
          </a:p>
        </p:txBody>
      </p:sp>
      <p:sp>
        <p:nvSpPr>
          <p:cNvPr id="3" name="Subtitle 2">
            <a:extLst>
              <a:ext uri="{FF2B5EF4-FFF2-40B4-BE49-F238E27FC236}">
                <a16:creationId xmlns:a16="http://schemas.microsoft.com/office/drawing/2014/main" id="{478707CD-6358-628A-B2A0-5D066B532E0A}"/>
              </a:ext>
            </a:extLst>
          </p:cNvPr>
          <p:cNvSpPr>
            <a:spLocks noGrp="1"/>
          </p:cNvSpPr>
          <p:nvPr>
            <p:ph type="subTitle" idx="1"/>
          </p:nvPr>
        </p:nvSpPr>
        <p:spPr>
          <a:xfrm>
            <a:off x="4087318" y="4204375"/>
            <a:ext cx="9144000" cy="1098395"/>
          </a:xfrm>
        </p:spPr>
        <p:txBody>
          <a:bodyPr>
            <a:normAutofit/>
          </a:bodyPr>
          <a:lstStyle/>
          <a:p>
            <a:r>
              <a:rPr lang="en-US" dirty="0">
                <a:solidFill>
                  <a:srgbClr val="FFFFFF"/>
                </a:solidFill>
              </a:rPr>
              <a:t>By Tiffany Munoz &amp; Johncarlos Fernandez</a:t>
            </a:r>
          </a:p>
        </p:txBody>
      </p:sp>
    </p:spTree>
    <p:extLst>
      <p:ext uri="{BB962C8B-B14F-4D97-AF65-F5344CB8AC3E}">
        <p14:creationId xmlns:p14="http://schemas.microsoft.com/office/powerpoint/2010/main" val="211816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4616666-B7A2-D611-E9A1-F5BD48C80B48}"/>
              </a:ext>
            </a:extLst>
          </p:cNvPr>
          <p:cNvSpPr>
            <a:spLocks noGrp="1"/>
          </p:cNvSpPr>
          <p:nvPr>
            <p:ph type="title"/>
          </p:nvPr>
        </p:nvSpPr>
        <p:spPr>
          <a:xfrm>
            <a:off x="630936" y="640080"/>
            <a:ext cx="4818888" cy="1481328"/>
          </a:xfrm>
        </p:spPr>
        <p:txBody>
          <a:bodyPr anchor="b">
            <a:normAutofit/>
          </a:bodyPr>
          <a:lstStyle/>
          <a:p>
            <a:r>
              <a:rPr lang="en-US" sz="5000" dirty="0">
                <a:latin typeface="American Typewriter" panose="02090604020004020304" pitchFamily="18" charset="77"/>
                <a:cs typeface="Al Nile" pitchFamily="2" charset="-78"/>
              </a:rPr>
              <a:t>Introduction</a:t>
            </a:r>
          </a:p>
        </p:txBody>
      </p:sp>
      <p:sp>
        <p:nvSpPr>
          <p:cNvPr id="106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4F09C50C-5E10-E8C5-1B6F-547781892D9C}"/>
              </a:ext>
            </a:extLst>
          </p:cNvPr>
          <p:cNvSpPr>
            <a:spLocks noGrp="1"/>
          </p:cNvSpPr>
          <p:nvPr>
            <p:ph idx="1"/>
          </p:nvPr>
        </p:nvSpPr>
        <p:spPr>
          <a:xfrm>
            <a:off x="630936" y="2660904"/>
            <a:ext cx="4818888" cy="3547872"/>
          </a:xfrm>
        </p:spPr>
        <p:txBody>
          <a:bodyPr anchor="t">
            <a:normAutofit/>
          </a:bodyPr>
          <a:lstStyle/>
          <a:p>
            <a:r>
              <a:rPr lang="en-US" sz="1800" b="1" dirty="0">
                <a:latin typeface="Al Nile" pitchFamily="2" charset="-78"/>
                <a:cs typeface="Al Nile" pitchFamily="2" charset="-78"/>
              </a:rPr>
              <a:t>Objective of analysis:</a:t>
            </a:r>
          </a:p>
          <a:p>
            <a:pPr lvl="1"/>
            <a:r>
              <a:rPr lang="en-US" sz="1800" dirty="0">
                <a:latin typeface="Al Nile" pitchFamily="2" charset="-78"/>
                <a:cs typeface="Al Nile" pitchFamily="2" charset="-78"/>
              </a:rPr>
              <a:t>Determine if specific pitches or mechanics correlate with a higher probability of elbow injury</a:t>
            </a:r>
          </a:p>
          <a:p>
            <a:r>
              <a:rPr lang="en-US" sz="1800" b="1" dirty="0">
                <a:latin typeface="Al Nile" pitchFamily="2" charset="-78"/>
                <a:cs typeface="Al Nile" pitchFamily="2" charset="-78"/>
              </a:rPr>
              <a:t>What is TJS:</a:t>
            </a:r>
          </a:p>
          <a:p>
            <a:pPr lvl="1"/>
            <a:r>
              <a:rPr lang="en-US" sz="1800" dirty="0">
                <a:latin typeface="Al Nile" pitchFamily="2" charset="-78"/>
                <a:cs typeface="Al Nile" pitchFamily="2" charset="-78"/>
              </a:rPr>
              <a:t>Reconstruction of the UCL to replace torn or damaged ligament</a:t>
            </a:r>
          </a:p>
          <a:p>
            <a:r>
              <a:rPr lang="en-US" sz="1800" b="1" dirty="0">
                <a:latin typeface="Al Nile" pitchFamily="2" charset="-78"/>
                <a:cs typeface="Al Nile" pitchFamily="2" charset="-78"/>
              </a:rPr>
              <a:t>Question:</a:t>
            </a:r>
          </a:p>
          <a:p>
            <a:pPr lvl="1"/>
            <a:r>
              <a:rPr lang="en-US" sz="1800" dirty="0">
                <a:latin typeface="Al Nile" pitchFamily="2" charset="-78"/>
                <a:cs typeface="Al Nile" pitchFamily="2" charset="-78"/>
              </a:rPr>
              <a:t>Can we predict the possibility of injury risk based on a pitcher’s primary and secondary pitch usage?</a:t>
            </a:r>
          </a:p>
          <a:p>
            <a:pPr lvl="1"/>
            <a:endParaRPr lang="en-US" sz="2200" dirty="0">
              <a:latin typeface="Al Nile" pitchFamily="2" charset="-78"/>
              <a:cs typeface="Al Nile" pitchFamily="2" charset="-78"/>
            </a:endParaRPr>
          </a:p>
        </p:txBody>
      </p:sp>
      <p:pic>
        <p:nvPicPr>
          <p:cNvPr id="1028" name="Picture 4" descr="Torn UCL to Baseball Pitchers: The hidden foundation? – Umesh Chhikara">
            <a:extLst>
              <a:ext uri="{FF2B5EF4-FFF2-40B4-BE49-F238E27FC236}">
                <a16:creationId xmlns:a16="http://schemas.microsoft.com/office/drawing/2014/main" id="{FF4ECCC0-5B58-4036-4998-D1F7A47895E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379558"/>
            <a:ext cx="5458968" cy="4098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647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8163E-911F-4E8F-FA9D-B442E57986EC}"/>
              </a:ext>
            </a:extLst>
          </p:cNvPr>
          <p:cNvSpPr>
            <a:spLocks noGrp="1"/>
          </p:cNvSpPr>
          <p:nvPr>
            <p:ph type="title"/>
          </p:nvPr>
        </p:nvSpPr>
        <p:spPr>
          <a:xfrm>
            <a:off x="838200" y="365125"/>
            <a:ext cx="10515600" cy="1325563"/>
          </a:xfrm>
        </p:spPr>
        <p:txBody>
          <a:bodyPr>
            <a:normAutofit/>
          </a:bodyPr>
          <a:lstStyle/>
          <a:p>
            <a:r>
              <a:rPr lang="en-US" sz="5400">
                <a:latin typeface="American Typewriter" panose="02090604020004020304" pitchFamily="18" charset="77"/>
                <a:cs typeface="Al Nile" pitchFamily="2" charset="-78"/>
              </a:rPr>
              <a:t>Process</a:t>
            </a:r>
          </a:p>
        </p:txBody>
      </p:sp>
      <p:sp>
        <p:nvSpPr>
          <p:cNvPr id="5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ntent Placeholder 2">
            <a:extLst>
              <a:ext uri="{FF2B5EF4-FFF2-40B4-BE49-F238E27FC236}">
                <a16:creationId xmlns:a16="http://schemas.microsoft.com/office/drawing/2014/main" id="{A9D435FC-752E-75DC-623D-7D3919120B64}"/>
              </a:ext>
            </a:extLst>
          </p:cNvPr>
          <p:cNvSpPr>
            <a:spLocks noGrp="1"/>
          </p:cNvSpPr>
          <p:nvPr>
            <p:ph idx="1"/>
          </p:nvPr>
        </p:nvSpPr>
        <p:spPr>
          <a:xfrm>
            <a:off x="838200" y="1929384"/>
            <a:ext cx="10515600" cy="4251960"/>
          </a:xfrm>
        </p:spPr>
        <p:txBody>
          <a:bodyPr>
            <a:normAutofit/>
          </a:bodyPr>
          <a:lstStyle/>
          <a:p>
            <a:pPr marL="514350" indent="-514350">
              <a:buFont typeface="+mj-lt"/>
              <a:buAutoNum type="arabicPeriod"/>
            </a:pPr>
            <a:r>
              <a:rPr lang="en-US" sz="2200" dirty="0">
                <a:latin typeface="Al Nile" pitchFamily="2" charset="-78"/>
                <a:cs typeface="Al Nile" pitchFamily="2" charset="-78"/>
              </a:rPr>
              <a:t>Download dataset from Kaggle</a:t>
            </a:r>
          </a:p>
          <a:p>
            <a:pPr marL="514350" indent="-514350">
              <a:buFont typeface="+mj-lt"/>
              <a:buAutoNum type="arabicPeriod"/>
            </a:pPr>
            <a:r>
              <a:rPr lang="en-US" sz="2200" dirty="0">
                <a:latin typeface="Al Nile" pitchFamily="2" charset="-78"/>
                <a:cs typeface="Al Nile" pitchFamily="2" charset="-78"/>
              </a:rPr>
              <a:t>Create Azure SQL database</a:t>
            </a:r>
          </a:p>
          <a:p>
            <a:pPr marL="514350" indent="-514350">
              <a:buFont typeface="+mj-lt"/>
              <a:buAutoNum type="arabicPeriod"/>
            </a:pPr>
            <a:r>
              <a:rPr lang="en-US" sz="2200" dirty="0">
                <a:latin typeface="Al Nile" pitchFamily="2" charset="-78"/>
                <a:cs typeface="Al Nile" pitchFamily="2" charset="-78"/>
              </a:rPr>
              <a:t>Create our own 6 tables</a:t>
            </a:r>
          </a:p>
          <a:p>
            <a:pPr marL="514350" indent="-514350">
              <a:buFont typeface="+mj-lt"/>
              <a:buAutoNum type="arabicPeriod"/>
            </a:pPr>
            <a:r>
              <a:rPr lang="en-US" sz="2200" dirty="0">
                <a:latin typeface="Al Nile" pitchFamily="2" charset="-78"/>
                <a:cs typeface="Al Nile" pitchFamily="2" charset="-78"/>
              </a:rPr>
              <a:t>Connect database to VS Code</a:t>
            </a:r>
          </a:p>
          <a:p>
            <a:pPr marL="514350" indent="-514350">
              <a:buFont typeface="+mj-lt"/>
              <a:buAutoNum type="arabicPeriod"/>
            </a:pPr>
            <a:r>
              <a:rPr lang="en-US" sz="2200" dirty="0">
                <a:latin typeface="Al Nile" pitchFamily="2" charset="-78"/>
                <a:cs typeface="Al Nile" pitchFamily="2" charset="-78"/>
              </a:rPr>
              <a:t>Created T-SQL queries</a:t>
            </a:r>
          </a:p>
          <a:p>
            <a:pPr marL="514350" indent="-514350">
              <a:buFont typeface="+mj-lt"/>
              <a:buAutoNum type="arabicPeriod"/>
            </a:pPr>
            <a:r>
              <a:rPr lang="en-US" sz="2200" dirty="0">
                <a:latin typeface="Al Nile" pitchFamily="2" charset="-78"/>
                <a:cs typeface="Al Nile" pitchFamily="2" charset="-78"/>
              </a:rPr>
              <a:t>Used </a:t>
            </a:r>
            <a:r>
              <a:rPr lang="en-US" sz="2200" dirty="0" err="1">
                <a:latin typeface="Al Nile" pitchFamily="2" charset="-78"/>
                <a:cs typeface="Al Nile" pitchFamily="2" charset="-78"/>
              </a:rPr>
              <a:t>DBCode</a:t>
            </a:r>
            <a:r>
              <a:rPr lang="en-US" sz="2200" dirty="0">
                <a:latin typeface="Al Nile" pitchFamily="2" charset="-78"/>
                <a:cs typeface="Al Nile" pitchFamily="2" charset="-78"/>
              </a:rPr>
              <a:t> to create the visuals</a:t>
            </a:r>
          </a:p>
        </p:txBody>
      </p:sp>
    </p:spTree>
    <p:extLst>
      <p:ext uri="{BB962C8B-B14F-4D97-AF65-F5344CB8AC3E}">
        <p14:creationId xmlns:p14="http://schemas.microsoft.com/office/powerpoint/2010/main" val="486228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8A4E4A-E72B-80A8-A202-F1A5D42F575A}"/>
              </a:ext>
            </a:extLst>
          </p:cNvPr>
          <p:cNvSpPr>
            <a:spLocks noGrp="1"/>
          </p:cNvSpPr>
          <p:nvPr>
            <p:ph type="title"/>
          </p:nvPr>
        </p:nvSpPr>
        <p:spPr>
          <a:xfrm>
            <a:off x="838200" y="365125"/>
            <a:ext cx="10515600" cy="1325563"/>
          </a:xfrm>
        </p:spPr>
        <p:txBody>
          <a:bodyPr>
            <a:normAutofit/>
          </a:bodyPr>
          <a:lstStyle/>
          <a:p>
            <a:r>
              <a:rPr lang="en-US" sz="5400" dirty="0">
                <a:latin typeface="Al Nile" pitchFamily="2" charset="-78"/>
                <a:cs typeface="Al Nile" pitchFamily="2" charset="-78"/>
              </a:rPr>
              <a:t>Key Analysis Goals</a:t>
            </a:r>
            <a:endParaRPr lang="en-US" sz="5400" dirty="0"/>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EF9DB0-8E5A-DD94-EB1D-78FDF77224E9}"/>
              </a:ext>
            </a:extLst>
          </p:cNvPr>
          <p:cNvSpPr>
            <a:spLocks noGrp="1"/>
          </p:cNvSpPr>
          <p:nvPr>
            <p:ph idx="1"/>
          </p:nvPr>
        </p:nvSpPr>
        <p:spPr>
          <a:xfrm>
            <a:off x="838200" y="1929384"/>
            <a:ext cx="10515600" cy="4251960"/>
          </a:xfrm>
        </p:spPr>
        <p:txBody>
          <a:bodyPr>
            <a:normAutofit/>
          </a:bodyPr>
          <a:lstStyle/>
          <a:p>
            <a:r>
              <a:rPr lang="en-US" sz="2200" dirty="0">
                <a:latin typeface="Al Nile" pitchFamily="2" charset="-78"/>
                <a:cs typeface="Al Nile" pitchFamily="2" charset="-78"/>
              </a:rPr>
              <a:t>Analysis Goals</a:t>
            </a:r>
          </a:p>
          <a:p>
            <a:pPr lvl="1"/>
            <a:r>
              <a:rPr lang="en-US" sz="2200" dirty="0"/>
              <a:t>Does the usage % of specific pitch types correlate with injury status</a:t>
            </a:r>
          </a:p>
          <a:p>
            <a:pPr lvl="1"/>
            <a:r>
              <a:rPr lang="en-US" sz="2200" dirty="0"/>
              <a:t>Analyzing the relationship between high velocity and UCL tension</a:t>
            </a:r>
          </a:p>
          <a:p>
            <a:pPr lvl="1"/>
            <a:r>
              <a:rPr lang="en-US" sz="2200" dirty="0"/>
              <a:t>Investigating whether pitches that require spin rate for effectiveness lead to higher injury status</a:t>
            </a:r>
          </a:p>
          <a:p>
            <a:endParaRPr lang="en-US" sz="2200" dirty="0"/>
          </a:p>
        </p:txBody>
      </p:sp>
    </p:spTree>
    <p:extLst>
      <p:ext uri="{BB962C8B-B14F-4D97-AF65-F5344CB8AC3E}">
        <p14:creationId xmlns:p14="http://schemas.microsoft.com/office/powerpoint/2010/main" val="948205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E98F2-644C-D84D-1E64-5651E9787C13}"/>
              </a:ext>
            </a:extLst>
          </p:cNvPr>
          <p:cNvSpPr>
            <a:spLocks noGrp="1"/>
          </p:cNvSpPr>
          <p:nvPr>
            <p:ph type="title"/>
          </p:nvPr>
        </p:nvSpPr>
        <p:spPr>
          <a:xfrm>
            <a:off x="841248" y="548640"/>
            <a:ext cx="3600860" cy="5431536"/>
          </a:xfrm>
        </p:spPr>
        <p:txBody>
          <a:bodyPr>
            <a:normAutofit/>
          </a:bodyPr>
          <a:lstStyle/>
          <a:p>
            <a:r>
              <a:rPr lang="en-US" sz="5400" dirty="0"/>
              <a:t>Analysis and Findings</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0333DB9-40AE-0442-B8FF-635904350A0A}"/>
              </a:ext>
            </a:extLst>
          </p:cNvPr>
          <p:cNvSpPr>
            <a:spLocks noGrp="1"/>
          </p:cNvSpPr>
          <p:nvPr>
            <p:ph idx="1"/>
          </p:nvPr>
        </p:nvSpPr>
        <p:spPr>
          <a:xfrm>
            <a:off x="5126418" y="552091"/>
            <a:ext cx="6224335" cy="5431536"/>
          </a:xfrm>
        </p:spPr>
        <p:txBody>
          <a:bodyPr anchor="ctr">
            <a:normAutofit/>
          </a:bodyPr>
          <a:lstStyle/>
          <a:p>
            <a:r>
              <a:rPr lang="en-US" sz="1900" dirty="0"/>
              <a:t>The FF is the most thrown pitch and the pitch thrown with the highest velocity, it serves as the baseline for most pitchers</a:t>
            </a:r>
          </a:p>
          <a:p>
            <a:r>
              <a:rPr lang="en-US" sz="1900" dirty="0"/>
              <a:t>The Usage of secondary pitches are what separate the healthy pitchers and the ones that had TJS</a:t>
            </a:r>
          </a:p>
          <a:p>
            <a:r>
              <a:rPr lang="en-US" sz="1900" dirty="0"/>
              <a:t>Pitchers that threw secondary pitches that had a focus on high spin rates to be effective, were on the injured list. </a:t>
            </a:r>
          </a:p>
          <a:p>
            <a:r>
              <a:rPr lang="en-US" sz="1900" dirty="0"/>
              <a:t>Pitchers that relied more on off-speed and fastballs were not on the injured list. Due to them being less likely to blow their UCL from tension</a:t>
            </a:r>
          </a:p>
          <a:p>
            <a:r>
              <a:rPr lang="en-US" sz="1900" dirty="0"/>
              <a:t>As the game evolves, we see a shift from traditional breaking balls to some that put less strain on the elbow, due to the increase of data we get each year</a:t>
            </a:r>
          </a:p>
        </p:txBody>
      </p:sp>
    </p:spTree>
    <p:extLst>
      <p:ext uri="{BB962C8B-B14F-4D97-AF65-F5344CB8AC3E}">
        <p14:creationId xmlns:p14="http://schemas.microsoft.com/office/powerpoint/2010/main" val="317392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2B2B49-CFE0-1F7A-0581-F0400E809E0E}"/>
              </a:ext>
            </a:extLst>
          </p:cNvPr>
          <p:cNvSpPr>
            <a:spLocks noGrp="1"/>
          </p:cNvSpPr>
          <p:nvPr>
            <p:ph type="title"/>
          </p:nvPr>
        </p:nvSpPr>
        <p:spPr>
          <a:xfrm>
            <a:off x="838200" y="365125"/>
            <a:ext cx="10515600" cy="1325563"/>
          </a:xfrm>
        </p:spPr>
        <p:txBody>
          <a:bodyPr>
            <a:normAutofit/>
          </a:bodyPr>
          <a:lstStyle/>
          <a:p>
            <a:r>
              <a:rPr lang="en-US" sz="5400"/>
              <a:t>Conclusion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CC64D3-BE7A-090C-1432-96711F457FC3}"/>
              </a:ext>
            </a:extLst>
          </p:cNvPr>
          <p:cNvSpPr>
            <a:spLocks noGrp="1"/>
          </p:cNvSpPr>
          <p:nvPr>
            <p:ph idx="1"/>
          </p:nvPr>
        </p:nvSpPr>
        <p:spPr>
          <a:xfrm>
            <a:off x="838200" y="1929384"/>
            <a:ext cx="10515600" cy="4251960"/>
          </a:xfrm>
        </p:spPr>
        <p:txBody>
          <a:bodyPr>
            <a:normAutofit/>
          </a:bodyPr>
          <a:lstStyle/>
          <a:p>
            <a:r>
              <a:rPr lang="en-US" sz="2200" dirty="0"/>
              <a:t>Summary:</a:t>
            </a:r>
          </a:p>
          <a:p>
            <a:pPr lvl="1"/>
            <a:r>
              <a:rPr lang="en-US" sz="1800" dirty="0"/>
              <a:t>Our analysis shows that as much as the traditional FF is thrown and will always be a risk factor due to velocity. The main risk are the pitches being as used as secondary options, These pitches have a focus on intense strain to achieve high spin rate. This causes high tension on the UCL causing it to blow and requiring TJS.</a:t>
            </a:r>
          </a:p>
          <a:p>
            <a:r>
              <a:rPr lang="en-US" sz="2200" dirty="0"/>
              <a:t>Future Outlook:</a:t>
            </a:r>
          </a:p>
          <a:p>
            <a:pPr lvl="1"/>
            <a:r>
              <a:rPr lang="en-US" sz="1800" dirty="0"/>
              <a:t>As the game evolves so does pitch design and we are seeing a upward trend on pitches that can achieve the same effects as previous pitches but with less tension on the elbow. With this see we see that the game is heading towards a positive direction when it comes to the health of our pitchers.</a:t>
            </a:r>
          </a:p>
        </p:txBody>
      </p:sp>
    </p:spTree>
    <p:extLst>
      <p:ext uri="{BB962C8B-B14F-4D97-AF65-F5344CB8AC3E}">
        <p14:creationId xmlns:p14="http://schemas.microsoft.com/office/powerpoint/2010/main" val="1202131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BE3E1C-2B34-8519-94E3-C2A6B0AA8FE2}"/>
              </a:ext>
            </a:extLst>
          </p:cNvPr>
          <p:cNvSpPr>
            <a:spLocks noGrp="1"/>
          </p:cNvSpPr>
          <p:nvPr>
            <p:ph type="title"/>
          </p:nvPr>
        </p:nvSpPr>
        <p:spPr>
          <a:xfrm>
            <a:off x="838200" y="365125"/>
            <a:ext cx="10515600" cy="1325563"/>
          </a:xfrm>
        </p:spPr>
        <p:txBody>
          <a:bodyPr>
            <a:normAutofit/>
          </a:bodyPr>
          <a:lstStyle/>
          <a:p>
            <a:r>
              <a:rPr lang="en-US" sz="5400" dirty="0"/>
              <a:t>References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5F913A-B8F2-AC87-5DD8-76BEF5A99591}"/>
              </a:ext>
            </a:extLst>
          </p:cNvPr>
          <p:cNvSpPr>
            <a:spLocks noGrp="1"/>
          </p:cNvSpPr>
          <p:nvPr>
            <p:ph idx="1"/>
          </p:nvPr>
        </p:nvSpPr>
        <p:spPr>
          <a:xfrm>
            <a:off x="838200" y="1929384"/>
            <a:ext cx="10515600" cy="4251960"/>
          </a:xfrm>
        </p:spPr>
        <p:txBody>
          <a:bodyPr>
            <a:normAutofit/>
          </a:bodyPr>
          <a:lstStyle/>
          <a:p>
            <a:r>
              <a:rPr lang="en-US" sz="2000" dirty="0"/>
              <a:t>Dataset: </a:t>
            </a:r>
            <a:r>
              <a:rPr lang="en-US" sz="2000" b="1" u="sng" dirty="0">
                <a:hlinkClick r:id="rId2"/>
              </a:rPr>
              <a:t>https://www.kaggle.com/datasets/brendanstyle/tommy-john-surgery-data?resource=downloadLinks to an external site.</a:t>
            </a:r>
            <a:endParaRPr lang="en-US" sz="2000" b="1" u="sng" dirty="0"/>
          </a:p>
          <a:p>
            <a:r>
              <a:rPr lang="en-US" sz="2200" dirty="0"/>
              <a:t>Gen AI</a:t>
            </a:r>
            <a:r>
              <a:rPr lang="en-US" sz="2200" dirty="0">
                <a:sym typeface="Wingdings" pitchFamily="2" charset="2"/>
              </a:rPr>
              <a:t> (used to create tables): Gemini</a:t>
            </a:r>
          </a:p>
          <a:p>
            <a:r>
              <a:rPr lang="en-US" sz="2200" dirty="0" err="1">
                <a:sym typeface="Wingdings" pitchFamily="2" charset="2"/>
              </a:rPr>
              <a:t>Azure:</a:t>
            </a:r>
            <a:r>
              <a:rPr lang="en-US" sz="2200" dirty="0" err="1">
                <a:sym typeface="Wingdings" pitchFamily="2" charset="2"/>
                <a:hlinkClick r:id="rId3"/>
              </a:rPr>
              <a:t>https</a:t>
            </a:r>
            <a:r>
              <a:rPr lang="en-US" sz="2200" dirty="0">
                <a:sym typeface="Wingdings" pitchFamily="2" charset="2"/>
                <a:hlinkClick r:id="rId3"/>
              </a:rPr>
              <a:t>://portal.azure.com/#@MiamiDadeCollegeProd.onmicrosoft.com/resource/subscriptions/0028e95a-b621-4844-9cbf-918f0a58d076/resourceGroups/AnalyticsProject26/providers/Microsoft.Sql/servers/cap2671cfinalproject/databases/PitchingTJ/overview</a:t>
            </a:r>
            <a:endParaRPr lang="en-US" sz="2200" dirty="0">
              <a:sym typeface="Wingdings" pitchFamily="2" charset="2"/>
            </a:endParaRPr>
          </a:p>
          <a:p>
            <a:endParaRPr lang="en-US" sz="2200" dirty="0"/>
          </a:p>
        </p:txBody>
      </p:sp>
    </p:spTree>
    <p:extLst>
      <p:ext uri="{BB962C8B-B14F-4D97-AF65-F5344CB8AC3E}">
        <p14:creationId xmlns:p14="http://schemas.microsoft.com/office/powerpoint/2010/main" val="329865035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0626806-ceff-4393-821e-f9a3e666893b}" enabled="0" method="" siteId="{b0626806-ceff-4393-821e-f9a3e666893b}" removed="1"/>
</clbl:labelList>
</file>

<file path=docProps/app.xml><?xml version="1.0" encoding="utf-8"?>
<Properties xmlns="http://schemas.openxmlformats.org/officeDocument/2006/extended-properties" xmlns:vt="http://schemas.openxmlformats.org/officeDocument/2006/docPropsVTypes">
  <Template>Office 2013 - 2022 Theme</Template>
  <TotalTime>1492</TotalTime>
  <Words>474</Words>
  <Application>Microsoft Macintosh PowerPoint</Application>
  <PresentationFormat>Widescreen</PresentationFormat>
  <Paragraphs>37</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Al Nile</vt:lpstr>
      <vt:lpstr>American Typewriter</vt:lpstr>
      <vt:lpstr>Aptos</vt:lpstr>
      <vt:lpstr>Arial</vt:lpstr>
      <vt:lpstr>Calibri</vt:lpstr>
      <vt:lpstr>Calibri Light</vt:lpstr>
      <vt:lpstr>Wingdings</vt:lpstr>
      <vt:lpstr>Office 2013 - 2022 Theme</vt:lpstr>
      <vt:lpstr>Velocity vs Longevity:  Analyzing the Relationship Between Pitching and Ulnar Collateral Ligament Injuries</vt:lpstr>
      <vt:lpstr>Introduction</vt:lpstr>
      <vt:lpstr>Process</vt:lpstr>
      <vt:lpstr>Key Analysis Goals</vt:lpstr>
      <vt:lpstr>Analysis and Findings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Tiffany.Munoz005</dc:creator>
  <cp:lastModifiedBy>Tiffany.Munoz005</cp:lastModifiedBy>
  <cp:revision>4</cp:revision>
  <dcterms:created xsi:type="dcterms:W3CDTF">2026-04-22T19:50:52Z</dcterms:created>
  <dcterms:modified xsi:type="dcterms:W3CDTF">2026-04-24T02:57:51Z</dcterms:modified>
</cp:coreProperties>
</file>